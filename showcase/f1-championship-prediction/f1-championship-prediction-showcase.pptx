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4923bb8464f08" /><Relationship Type="http://schemas.openxmlformats.org/officeDocument/2006/relationships/extended-properties" Target="/docProps/app.xml" Id="R527d2ca1461d4f04" /><Relationship Type="http://schemas.openxmlformats.org/officeDocument/2006/relationships/officeDocument" Target="/ppt/presentation.xml" Id="R8b997cab55e0485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dbe3d1988d14d02"/>
  </p:sldMasterIdLst>
  <p:notesMasterIdLst>
    <p:notesMasterId xmlns:r="http://schemas.openxmlformats.org/officeDocument/2006/relationships" r:id="R9e0180ccbdd543f1"/>
  </p:notesMasterIdLst>
  <p:sldIdLst>
    <p:sldId xmlns:r="http://schemas.openxmlformats.org/officeDocument/2006/relationships" id="256" r:id="R196ac124419a4c45"/>
    <p:sldId xmlns:r="http://schemas.openxmlformats.org/officeDocument/2006/relationships" id="257" r:id="R843da6e2d35c45f3"/>
    <p:sldId xmlns:r="http://schemas.openxmlformats.org/officeDocument/2006/relationships" id="258" r:id="R4eba105be8c843d1"/>
    <p:sldId xmlns:r="http://schemas.openxmlformats.org/officeDocument/2006/relationships" id="259" r:id="R1630161d7e9f4746"/>
    <p:sldId xmlns:r="http://schemas.openxmlformats.org/officeDocument/2006/relationships" id="260" r:id="Rb6c64750a97e45e7"/>
    <p:sldId xmlns:r="http://schemas.openxmlformats.org/officeDocument/2006/relationships" id="261" r:id="R5d76daaaac0e496e"/>
    <p:sldId xmlns:r="http://schemas.openxmlformats.org/officeDocument/2006/relationships" id="262" r:id="R50ce8597a6f54be2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fb5cb07129594540"/>
      <p:bold xmlns:r="http://schemas.openxmlformats.org/officeDocument/2006/relationships" r:id="R26acb8ce15e7493a"/>
      <p:italic xmlns:r="http://schemas.openxmlformats.org/officeDocument/2006/relationships" r:id="R55c38668a53449b0"/>
      <p:boldItalic xmlns:r="http://schemas.openxmlformats.org/officeDocument/2006/relationships" r:id="Rdbc48cbba3c34b6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acbcbc432b4e4e" /><Relationship Type="http://schemas.openxmlformats.org/officeDocument/2006/relationships/slideMaster" Target="/ppt/slideMasters/slideMaster1.xml" Id="R0dbe3d1988d14d02" /><Relationship Type="http://schemas.openxmlformats.org/officeDocument/2006/relationships/notesMaster" Target="/ppt/notesMasters/notesMaster1.xml" Id="R9e0180ccbdd543f1" /><Relationship Type="http://schemas.openxmlformats.org/officeDocument/2006/relationships/presProps" Target="/ppt/presProps.xml" Id="R361de132f6084c44" /><Relationship Type="http://schemas.openxmlformats.org/officeDocument/2006/relationships/viewProps" Target="/ppt/viewProps.xml" Id="Rf45e6a24076e4ffd" /><Relationship Type="http://schemas.openxmlformats.org/officeDocument/2006/relationships/tableStyles" Target="/ppt/tableStyles.xml" Id="Rd90f561b856e48a1" /><Relationship Type="http://schemas.openxmlformats.org/officeDocument/2006/relationships/font" Target="/ppt/fonts/font.dat" Id="Rfb5cb07129594540" /><Relationship Type="http://schemas.openxmlformats.org/officeDocument/2006/relationships/font" Target="/ppt/fonts/font2.dat" Id="R26acb8ce15e7493a" /><Relationship Type="http://schemas.openxmlformats.org/officeDocument/2006/relationships/font" Target="/ppt/fonts/font3.dat" Id="R55c38668a53449b0" /><Relationship Type="http://schemas.openxmlformats.org/officeDocument/2006/relationships/font" Target="/ppt/fonts/font4.dat" Id="Rdbc48cbba3c34b6d" /><Relationship Type="http://schemas.openxmlformats.org/officeDocument/2006/relationships/slide" Target="/ppt/slides/slide1.xml" Id="R196ac124419a4c45" /><Relationship Type="http://schemas.openxmlformats.org/officeDocument/2006/relationships/slide" Target="/ppt/slides/slide2.xml" Id="R843da6e2d35c45f3" /><Relationship Type="http://schemas.openxmlformats.org/officeDocument/2006/relationships/slide" Target="/ppt/slides/slide3.xml" Id="R4eba105be8c843d1" /><Relationship Type="http://schemas.openxmlformats.org/officeDocument/2006/relationships/slide" Target="/ppt/slides/slide4.xml" Id="R1630161d7e9f4746" /><Relationship Type="http://schemas.openxmlformats.org/officeDocument/2006/relationships/slide" Target="/ppt/slides/slide5.xml" Id="Rb6c64750a97e45e7" /><Relationship Type="http://schemas.openxmlformats.org/officeDocument/2006/relationships/slide" Target="/ppt/slides/slide6.xml" Id="R5d76daaaac0e496e" /><Relationship Type="http://schemas.openxmlformats.org/officeDocument/2006/relationships/slide" Target="/ppt/slides/slide7.xml" Id="R50ce8597a6f5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dda4e6493a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a99bd790e4473" /><Relationship Type="http://schemas.openxmlformats.org/officeDocument/2006/relationships/notesMaster" Target="/ppt/notesMasters/notesMaster1.xml" Id="R325b9bbf0b0b4f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f9bf87f10c4103" /><Relationship Type="http://schemas.openxmlformats.org/officeDocument/2006/relationships/notesMaster" Target="/ppt/notesMasters/notesMaster1.xml" Id="R40fa77c2872a4e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97be6a5f284cf4" /><Relationship Type="http://schemas.openxmlformats.org/officeDocument/2006/relationships/notesMaster" Target="/ppt/notesMasters/notesMaster1.xml" Id="Rc2ee8884e35d4a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9a98d300874bf8" /><Relationship Type="http://schemas.openxmlformats.org/officeDocument/2006/relationships/notesMaster" Target="/ppt/notesMasters/notesMaster1.xml" Id="R3d8ad7259fb0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2c4ab1e6d6483a" /><Relationship Type="http://schemas.openxmlformats.org/officeDocument/2006/relationships/notesMaster" Target="/ppt/notesMasters/notesMaster1.xml" Id="Re25420fb676a4c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8e725bf7f443fa" /><Relationship Type="http://schemas.openxmlformats.org/officeDocument/2006/relationships/notesMaster" Target="/ppt/notesMasters/notesMaster1.xml" Id="R2f7d394c07c14e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bb89a559114057" /><Relationship Type="http://schemas.openxmlformats.org/officeDocument/2006/relationships/notesMaster" Target="/ppt/notesMasters/notesMaster1.xml" Id="Rbc9ab920978d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promise and the boundary: this is a reproducible forecasting study, not a claim of a production-ready betting or race strategy system.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showcase/f1-championship-prediction/presentation-outline.md (approved narrative and evidence mapping)</a:t>
            </a:r>
            <a:endParaRPr/>
          </a:p>
          <a:p xmlns:a="http://schemas.openxmlformats.org/drawingml/2006/main">
            <a:r>
              <a:t>- showcase/f1-championship-prediction/presentation-script.md (speaker framing)</a:t>
            </a:r>
            <a:endParaRPr/>
          </a:p>
          <a:p xmlns:a="http://schemas.openxmlformats.org/drawingml/2006/main">
            <a:r>
              <a:t>- README.md and MODEL_CARD.md (project framing, evaluation, and limitations)</a:t>
            </a:r>
            <a:endParaRPr/>
          </a:p>
          <a:p xmlns:a="http://schemas.openxmlformats.org/drawingml/2006/main">
            <a:r>
              <a:t>- docs/release_manifest.json (release provenance and validated metrics)</a:t>
            </a:r>
            <a:endParaRPr/>
          </a:p>
          <a:p xmlns:a="http://schemas.openxmlformats.org/drawingml/2006/main">
            <a:r>
              <a:t>- https://icecold009.github.io/f1-championship-prediction/ (live report checked 2026-08-10)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two cards to define the problem: a forecast is only meaningful when the training window, holdout season, and baseline are explicit.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showcase/f1-championship-prediction/presentation-outline.md (approved narrative and evidence mapping)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showcase/f1-championship-prediction/presentation-script.md (speaker framing)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 and MODEL_CARD.md (project framing, evaluation, and limitations)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docs/release_manifest.json (release provenance and validated metrics)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https://icecold009.github.io/f1-championship-prediction/ (live report checked 2026-08-10)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right, then top to bottom: the same pipeline that produces a forecast also produces the audit trail needed to inspect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showcase/f1-championship-prediction/presentation-outline.md (approved narrative and evidence mapping)</a:t>
            </a:r>
          </a:p>
          <a:p xmlns:a="http://schemas.openxmlformats.org/drawingml/2006/main">
            <a:r>
              <a:t>- showcase/f1-championship-prediction/presentation-script.md (speaker framing)</a:t>
            </a:r>
          </a:p>
          <a:p xmlns:a="http://schemas.openxmlformats.org/drawingml/2006/main">
            <a:r>
              <a:t>- README.md and MODEL_CARD.md (project framing, evaluation, and limitations)</a:t>
            </a:r>
          </a:p>
          <a:p xmlns:a="http://schemas.openxmlformats.org/drawingml/2006/main">
            <a:r>
              <a:t>- docs/release_manifest.json (release provenance and validated metrics)</a:t>
            </a:r>
          </a:p>
          <a:p xmlns:a="http://schemas.openxmlformats.org/drawingml/2006/main">
            <a:r>
              <a:t>- https://icecold009.github.io/f1-championship-prediction/ (live report checked 2026-08-10)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Point to the report as the product surface: it makes the ranking, the comparison plot, and the uncertainty story available to a reviewer without opening the training notebook.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showcase/f1-championship-prediction/presentation-outline.md (approved narrative and evidence mapping)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showcase/f1-championship-prediction/presentation-script.md (speaker framing)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 and MODEL_CARD.md (project framing, evaluation, and limitations)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docs/release_manifest.json (release provenance and validated metrics)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https://icecold009.github.io/f1-championship-prediction/ (live report checked 2026-08-10)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the three quality pillars to emphasize: the feature timing, the evaluation split, and the release provenance all work together.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showcase/f1-championship-prediction/presentation-outline.md (approved narrative and evidence mapping)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showcase/f1-championship-prediction/presentation-script.md (speaker framing)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 and MODEL_CARD.md (project framing, evaluation, and limitations)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docs/release_manifest.json (release provenance and validated metrics)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https://icecold009.github.io/f1-championship-prediction/ (live report checked 2026-08-10)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decision rule: the naive order is the gate. The cold-start model is close but does not justify claiming a meaningful lift, and the history-only model loses more often than it wins in paired season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showcase/f1-championship-prediction/presentation-outline.md (approved narrative and evidence mapping)</a:t>
            </a:r>
          </a:p>
          <a:p xmlns:a="http://schemas.openxmlformats.org/drawingml/2006/main">
            <a:r>
              <a:t>- showcase/f1-championship-prediction/presentation-script.md (speaker framing)</a:t>
            </a:r>
          </a:p>
          <a:p xmlns:a="http://schemas.openxmlformats.org/drawingml/2006/main">
            <a:r>
              <a:t>- README.md and MODEL_CARD.md (project framing, evaluation, and limitations)</a:t>
            </a:r>
          </a:p>
          <a:p xmlns:a="http://schemas.openxmlformats.org/drawingml/2006/main">
            <a:r>
              <a:t>- docs/release_manifest.json (release provenance and validated metrics)</a:t>
            </a:r>
          </a:p>
          <a:p xmlns:a="http://schemas.openxmlformats.org/drawingml/2006/main">
            <a:r>
              <a:t>- https://icecold009.github.io/f1-championship-prediction/ (live report checked 2026-08-10)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limitations: uncertainty coverage is broad but not perfect, cold-start drivers remain hard, and the next improvement is richer pre-season context—not more model complexity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showcase/f1-championship-prediction/presentation-outline.md (approved narrative and evidence mapping)</a:t>
            </a:r>
          </a:p>
          <a:p xmlns:a="http://schemas.openxmlformats.org/drawingml/2006/main">
            <a:r>
              <a:t>- showcase/f1-championship-prediction/presentation-script.md (speaker framing)</a:t>
            </a:r>
          </a:p>
          <a:p xmlns:a="http://schemas.openxmlformats.org/drawingml/2006/main">
            <a:r>
              <a:t>- README.md and MODEL_CARD.md (project framing, evaluation, and limitations)</a:t>
            </a:r>
          </a:p>
          <a:p xmlns:a="http://schemas.openxmlformats.org/drawingml/2006/main">
            <a:r>
              <a:t>- docs/release_manifest.json (release provenance and validated metrics)</a:t>
            </a:r>
          </a:p>
          <a:p xmlns:a="http://schemas.openxmlformats.org/drawingml/2006/main">
            <a:r>
              <a:t>- https://icecold009.github.io/f1-championship-prediction/ (live report checked 2026-08-10)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368ac38524b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b80461ee04f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bb3ef2bdb45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9c4681fad4d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9d6ab650a4a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259f08670427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7385c66e9484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6288df4a34b7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9c03d1e3b49d8" /><Relationship Type="http://schemas.openxmlformats.org/officeDocument/2006/relationships/slideLayout" Target="/ppt/slideLayouts/slideLayout1.xml" Id="R6ac57ee978a54de5" /><Relationship Type="http://schemas.openxmlformats.org/officeDocument/2006/relationships/slideLayout" Target="/ppt/slideLayouts/slideLayout2.xml" Id="Ra9fbba9a867e4746" /><Relationship Type="http://schemas.openxmlformats.org/officeDocument/2006/relationships/slideLayout" Target="/ppt/slideLayouts/slideLayout3.xml" Id="R7071e8f65d5342db" /><Relationship Type="http://schemas.openxmlformats.org/officeDocument/2006/relationships/slideLayout" Target="/ppt/slideLayouts/slideLayout4.xml" Id="Raab251616a5647af" /><Relationship Type="http://schemas.openxmlformats.org/officeDocument/2006/relationships/slideLayout" Target="/ppt/slideLayouts/slideLayout5.xml" Id="R71866f680f8d424c" /><Relationship Type="http://schemas.openxmlformats.org/officeDocument/2006/relationships/slideLayout" Target="/ppt/slideLayouts/slideLayout6.xml" Id="Re19e117ea2734fb7" /><Relationship Type="http://schemas.openxmlformats.org/officeDocument/2006/relationships/slideLayout" Target="/ppt/slideLayouts/slideLayout7.xml" Id="Rf35b71b0baec43c5" /><Relationship Type="http://schemas.openxmlformats.org/officeDocument/2006/relationships/slideLayout" Target="/ppt/slideLayouts/slideLayout8.xml" Id="R3201ce3ea3ca4be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c57ee978a54de5"/>
    <p:sldLayoutId xmlns:r="http://schemas.openxmlformats.org/officeDocument/2006/relationships" id="2147483650" r:id="Ra9fbba9a867e4746"/>
    <p:sldLayoutId xmlns:r="http://schemas.openxmlformats.org/officeDocument/2006/relationships" id="2147483651" r:id="R7071e8f65d5342db"/>
    <p:sldLayoutId xmlns:r="http://schemas.openxmlformats.org/officeDocument/2006/relationships" id="2147483652" r:id="Raab251616a5647af"/>
    <p:sldLayoutId xmlns:r="http://schemas.openxmlformats.org/officeDocument/2006/relationships" id="2147483653" r:id="R71866f680f8d424c"/>
    <p:sldLayoutId xmlns:r="http://schemas.openxmlformats.org/officeDocument/2006/relationships" id="2147483654" r:id="Re19e117ea2734fb7"/>
    <p:sldLayoutId xmlns:r="http://schemas.openxmlformats.org/officeDocument/2006/relationships" id="2147483655" r:id="Rf35b71b0baec43c5"/>
    <p:sldLayoutId xmlns:r="http://schemas.openxmlformats.org/officeDocument/2006/relationships" id="2147483656" r:id="R3201ce3ea3ca4be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313b5c3c340a3" /><Relationship Type="http://schemas.openxmlformats.org/officeDocument/2006/relationships/image" Target="/ppt/media/image.png" Id="Rd89e6f4cd5624f95" /><Relationship Type="http://schemas.openxmlformats.org/officeDocument/2006/relationships/notesSlide" Target="/ppt/notesSlides/notesSlide1.xml" Id="Ra5e3608c59154c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ad9356b9a4d52" /><Relationship Type="http://schemas.openxmlformats.org/officeDocument/2006/relationships/notesSlide" Target="/ppt/notesSlides/notesSlide2.xml" Id="R5ad9a8c96a5a49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e3d01977e4017" /><Relationship Type="http://schemas.openxmlformats.org/officeDocument/2006/relationships/notesSlide" Target="/ppt/notesSlides/notesSlide3.xml" Id="R443058fde8024b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261e6e4d4e4d6b" /><Relationship Type="http://schemas.openxmlformats.org/officeDocument/2006/relationships/image" Target="/ppt/media/image2.png" Id="R4aa2bac919bc46ae" /><Relationship Type="http://schemas.openxmlformats.org/officeDocument/2006/relationships/notesSlide" Target="/ppt/notesSlides/notesSlide4.xml" Id="R2fd2ce28c03c4d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8db53e16c4dbb" /><Relationship Type="http://schemas.openxmlformats.org/officeDocument/2006/relationships/notesSlide" Target="/ppt/notesSlides/notesSlide5.xml" Id="Re509b6dee0ae43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2d64451d1400a" /><Relationship Type="http://schemas.openxmlformats.org/officeDocument/2006/relationships/chart" Target="/ppt/slides/charts/chart1.xml" Id="R6dc94b31782f42cb" /><Relationship Type="http://schemas.openxmlformats.org/officeDocument/2006/relationships/notesSlide" Target="/ppt/notesSlides/notesSlide6.xml" Id="R117bb026e17e4f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fba57a1af4f55" /><Relationship Type="http://schemas.openxmlformats.org/officeDocument/2006/relationships/notesSlide" Target="/ppt/notesSlides/notesSlide7.xml" Id="R0c42da26e4ae43ed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Mean Spearman × 100</a:t>
            </a:r>
          </a:p>
        </c:rich>
      </c:tx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Spearman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3"/>
                <c:pt idx="0">
                  <c:v>Naive</c:v>
                </c:pt>
                <c:pt idx="1">
                  <c:v>Cold-start RF</c:v>
                </c:pt>
                <c:pt idx="2">
                  <c:v>History RF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82.1</c:v>
                </c:pt>
                <c:pt idx="1">
                  <c:v>81.1</c:v>
                </c:pt>
                <c:pt idx="2">
                  <c:v>80.7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</c:catAx>
      <c:valAx>
        <c:axId val="1769229823"/>
        <c:scaling>
          <c:orientation val="minMax"/>
          <c:max val="83"/>
          <c:min val="80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  <c:majorUnit val="1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F1 Championship</a:t>
            </a:r>
          </a:p>
          <a:p xmlns:a="http://schemas.openxmlformats.org/drawingml/2006/main">
            <a:r>
              <a:rPr sz="6200"/>
              <a:t>Forecasting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A leakage-safe study of whether historical performance can forecast the final championship order.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PROJECT SHOWCASE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e6f4cd5624f95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hard part is the information boundary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What the model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predicts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Final driver position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Standing tier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Forecast before race outcomes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What makes it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credible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Whole seasons held out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Baseline on same seasons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No production claims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The target is simple. The evidence boundary is not. A pre-season ranking can look strong if target-season outcomes leak into features—or if a simple baseline is never shown.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pipeline turns raw history into an auditable forecast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  Snapshot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Download and checksum the Ergast-compatible CSV tables.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2  Features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Shift prior-season form, reliability, sprint points, and team strength.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3  Holdout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Train through N; test every future season intact.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4  Report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Publish the ranking, uncertainty, error analysis, and manifest.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report makes the evidence inspectable</a:t>
            </a:r>
          </a:p>
        </p:txBody>
      </p:sp>
      <p:pic>
        <p:nvPicPr>
          <p:cNvPr id="53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2bac919bc46ae"/>
          <a:stretch xmlns:a="http://schemas.openxmlformats.org/drawingml/2006/main"/>
        </p:blipFill>
        <p:spPr>
          <a:xfrm xmlns:a="http://schemas.openxmlformats.org/drawingml/2006/main">
            <a:off x="6269040" y="1350864"/>
            <a:ext cx="5539740" cy="3693160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2023 example report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live report opens with the champion forecast, a 22-driver ranking, predicted-versus-actual comparison, and sortable uncertainty fields.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decisions keep the forecast honest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Leakage-safe features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Prior driver and constructor history are shifted into the forecast season; same-season outcomes stay targets.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Time-aware evaluation</a:t>
            </a:r>
            <a:endParaRPr sz="2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Random Forest, Gradient Boosting, Ridge, and explicit baselines share the same 10 held-out seasons.</a:t>
            </a:r>
            <a:endParaRPr sz="2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Traceable release</a:t>
            </a:r>
            <a:endParaRPr sz="2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Manifests bind code, raw-data hashes, package versions, and generated artifact paths.</a:t>
            </a:r>
            <a:endParaRPr sz="2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simple baseline remains the model-selection gate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-0.010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RF + cold-start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delta vs naive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4 / 6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history-only Spearman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wins / losses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899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What the benchmark says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Naive previous-season order: 0.821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Random Forest + cold-start: 0.811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History-only Forest: 0.807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History-only delta CI: -0.057 to 0.029.</a:t>
            </a:r>
          </a:p>
        </p:txBody>
      </p:sp>
      <p:graphicFrame>
        <p:nvGraphicFramePr>
          <p:cNvPr id="51" name="Chart 2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c94b31782f42cb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biggest gains now come from better pre-season context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8151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bootstrap P05–P95 coverage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across 222 driver-seasons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8151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explicit entry lists +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qualifying and pit-stop features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8151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MAE for returning-after-gap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drivers (11 observations)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34.2%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12.562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NEXT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The project is useful because it exposes where a polished forecast is still weak—and what to improve next.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2026-08-10T12:27:08.6260000Z</dcterms:created>
  <dcterms:modified xsi:type="dcterms:W3CDTF">2026-08-10T12:27:08.6260000Z</dcterms:modified>
</coreProperties>
</file>